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1160125" cy="5543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46" userDrawn="1">
          <p15:clr>
            <a:srgbClr val="A4A3A4"/>
          </p15:clr>
        </p15:guide>
        <p15:guide id="2" pos="26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A12"/>
    <a:srgbClr val="4B5563"/>
    <a:srgbClr val="FBFDFE"/>
    <a:srgbClr val="F8FFFF"/>
    <a:srgbClr val="0F7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6"/>
    <p:restoredTop sz="91477"/>
  </p:normalViewPr>
  <p:slideViewPr>
    <p:cSldViewPr snapToGrid="0" snapToObjects="1">
      <p:cViewPr>
        <p:scale>
          <a:sx n="125" d="100"/>
          <a:sy n="125" d="100"/>
        </p:scale>
        <p:origin x="456" y="864"/>
      </p:cViewPr>
      <p:guideLst>
        <p:guide orient="horz" pos="1746"/>
        <p:guide pos="26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28A7C-0C94-714B-98BB-ED5493D6FD50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2263" y="1143000"/>
            <a:ext cx="6213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0A6FC-BB34-EF49-A792-3B19DE5AF1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672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22263" y="1143000"/>
            <a:ext cx="6213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F0A6FC-BB34-EF49-A792-3B19DE5AF12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2812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7758" y="1722095"/>
            <a:ext cx="7114580" cy="11882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5514" y="3141347"/>
            <a:ext cx="5859065" cy="14166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181" y="3562247"/>
            <a:ext cx="7114580" cy="110101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181" y="2349595"/>
            <a:ext cx="7114580" cy="121265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8504" y="1293495"/>
            <a:ext cx="3696792" cy="3658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54797" y="1293495"/>
            <a:ext cx="3696792" cy="3658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04" y="1240885"/>
            <a:ext cx="3698245" cy="51714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04" y="1758026"/>
            <a:ext cx="3698245" cy="319395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51893" y="1240885"/>
            <a:ext cx="3699698" cy="51714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51893" y="1758026"/>
            <a:ext cx="3699698" cy="319395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07" y="220716"/>
            <a:ext cx="2753703" cy="93932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2477" y="220717"/>
            <a:ext cx="4679115" cy="47312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07" y="1160039"/>
            <a:ext cx="2753703" cy="37919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597" y="3880488"/>
            <a:ext cx="5022057" cy="458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40597" y="495328"/>
            <a:ext cx="5022057" cy="332613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0597" y="4338599"/>
            <a:ext cx="5022057" cy="6505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68318" y="222002"/>
            <a:ext cx="1883271" cy="47299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8505" y="222002"/>
            <a:ext cx="5510312" cy="47299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8506" y="222001"/>
            <a:ext cx="7533084" cy="923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06" y="1293495"/>
            <a:ext cx="7533084" cy="3658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8506" y="5138053"/>
            <a:ext cx="1953021" cy="2951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59782" y="5138053"/>
            <a:ext cx="2650530" cy="2951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98571" y="5138053"/>
            <a:ext cx="1953021" cy="2951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2834-7BA4-F31A-68A4-FCC78AEA2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D456766-D26F-4DCA-6F54-BC880047D0E7}"/>
              </a:ext>
            </a:extLst>
          </p:cNvPr>
          <p:cNvSpPr/>
          <p:nvPr/>
        </p:nvSpPr>
        <p:spPr>
          <a:xfrm>
            <a:off x="279596" y="1703089"/>
            <a:ext cx="8477165" cy="1389406"/>
          </a:xfrm>
          <a:prstGeom prst="roundRect">
            <a:avLst>
              <a:gd name="adj" fmla="val 10481"/>
            </a:avLst>
          </a:prstGeom>
          <a:solidFill>
            <a:srgbClr val="F8FFFE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7830A7-9789-7F1B-333C-2A69AFD76320}"/>
              </a:ext>
            </a:extLst>
          </p:cNvPr>
          <p:cNvSpPr txBox="1"/>
          <p:nvPr/>
        </p:nvSpPr>
        <p:spPr>
          <a:xfrm>
            <a:off x="1693337" y="44927"/>
            <a:ext cx="7530266" cy="357021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220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EasyOPD</a:t>
            </a:r>
            <a:r>
              <a:rPr sz="2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Three-Layer Framework for</a:t>
            </a:r>
            <a:r>
              <a:rPr lang="zh-CN" altLang="en-US" sz="2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2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</a:t>
            </a:r>
            <a:r>
              <a:rPr lang="zh-CN" altLang="en-US" sz="2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80F056B-3CF4-E21D-DB4E-23DD4799018B}"/>
              </a:ext>
            </a:extLst>
          </p:cNvPr>
          <p:cNvSpPr/>
          <p:nvPr/>
        </p:nvSpPr>
        <p:spPr>
          <a:xfrm>
            <a:off x="279596" y="442697"/>
            <a:ext cx="8477165" cy="1078992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964B08-F92A-3F50-9105-293D7695D7B8}"/>
              </a:ext>
            </a:extLst>
          </p:cNvPr>
          <p:cNvSpPr/>
          <p:nvPr/>
        </p:nvSpPr>
        <p:spPr>
          <a:xfrm>
            <a:off x="371030" y="552425"/>
            <a:ext cx="219456" cy="219456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CCCB4-9426-7E96-A700-0B6F221E2859}"/>
              </a:ext>
            </a:extLst>
          </p:cNvPr>
          <p:cNvSpPr txBox="1"/>
          <p:nvPr/>
        </p:nvSpPr>
        <p:spPr>
          <a:xfrm>
            <a:off x="700014" y="517022"/>
            <a:ext cx="1143000" cy="26468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6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Layer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5342FD-52AA-29E5-77C6-47D62AA3DACC}"/>
              </a:ext>
            </a:extLst>
          </p:cNvPr>
          <p:cNvSpPr/>
          <p:nvPr/>
        </p:nvSpPr>
        <p:spPr>
          <a:xfrm>
            <a:off x="3509611" y="527263"/>
            <a:ext cx="2287195" cy="26697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user-side invocation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CF4063-6FCE-44E9-564B-0E13E8FA157C}"/>
              </a:ext>
            </a:extLst>
          </p:cNvPr>
          <p:cNvSpPr/>
          <p:nvPr/>
        </p:nvSpPr>
        <p:spPr>
          <a:xfrm>
            <a:off x="419930" y="904380"/>
            <a:ext cx="2422436" cy="467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6A58E-BC85-D04A-2168-69057523EB82}"/>
              </a:ext>
            </a:extLst>
          </p:cNvPr>
          <p:cNvSpPr txBox="1"/>
          <p:nvPr/>
        </p:nvSpPr>
        <p:spPr>
          <a:xfrm>
            <a:off x="735246" y="936834"/>
            <a:ext cx="1985043" cy="39549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YAML Configs</a:t>
            </a:r>
            <a:endParaRPr lang="en-US" sz="1400" b="1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altLang="zh-CN" sz="105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gkd.yaml</a:t>
            </a:r>
            <a:r>
              <a:rPr lang="en" altLang="zh-CN" sz="10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altLang="zh-CN" sz="105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simct.yaml</a:t>
            </a:r>
            <a:r>
              <a:rPr lang="en" altLang="zh-CN" sz="10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...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EAC00CB-EAA8-345E-33E1-D9E9A6ECA7AA}"/>
              </a:ext>
            </a:extLst>
          </p:cNvPr>
          <p:cNvSpPr/>
          <p:nvPr/>
        </p:nvSpPr>
        <p:spPr>
          <a:xfrm>
            <a:off x="3043442" y="898417"/>
            <a:ext cx="3162186" cy="4674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BC16BC-5947-05AF-3576-5A9989B8F358}"/>
              </a:ext>
            </a:extLst>
          </p:cNvPr>
          <p:cNvSpPr txBox="1"/>
          <p:nvPr/>
        </p:nvSpPr>
        <p:spPr>
          <a:xfrm>
            <a:off x="3378217" y="934408"/>
            <a:ext cx="2660903" cy="39549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/ CLI</a:t>
            </a:r>
            <a:endParaRPr lang="en-US" sz="1400" b="1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altLang="zh-CN" sz="1050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EasyOPD.from_hparams</a:t>
            </a:r>
            <a:r>
              <a:rPr lang="en" altLang="zh-CN" sz="10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A01B3DC-2769-BC09-3CFC-E5E0BB524BB8}"/>
              </a:ext>
            </a:extLst>
          </p:cNvPr>
          <p:cNvSpPr/>
          <p:nvPr/>
        </p:nvSpPr>
        <p:spPr>
          <a:xfrm>
            <a:off x="6458548" y="886845"/>
            <a:ext cx="2096367" cy="47904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B98EF0-F2BB-1974-96A2-0EAFFA9E0710}"/>
              </a:ext>
            </a:extLst>
          </p:cNvPr>
          <p:cNvSpPr txBox="1"/>
          <p:nvPr/>
        </p:nvSpPr>
        <p:spPr>
          <a:xfrm>
            <a:off x="7015877" y="918425"/>
            <a:ext cx="1372256" cy="39549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1400" b="1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altLang="zh-CN" sz="1050" dirty="0">
                <a:solidFill>
                  <a:srgbClr val="0F1B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reproducible scripts</a:t>
            </a:r>
            <a:endParaRPr sz="1050" b="1" dirty="0">
              <a:solidFill>
                <a:srgbClr val="1118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6DB6A9D2-7003-EE16-4711-2D7438A07032}"/>
              </a:ext>
            </a:extLst>
          </p:cNvPr>
          <p:cNvSpPr/>
          <p:nvPr/>
        </p:nvSpPr>
        <p:spPr>
          <a:xfrm>
            <a:off x="2090181" y="1532881"/>
            <a:ext cx="109728" cy="164592"/>
          </a:xfrm>
          <a:prstGeom prst="down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B7CB48CD-CBD7-8162-F933-6875CD98D1FF}"/>
              </a:ext>
            </a:extLst>
          </p:cNvPr>
          <p:cNvSpPr/>
          <p:nvPr/>
        </p:nvSpPr>
        <p:spPr>
          <a:xfrm>
            <a:off x="4598935" y="1535914"/>
            <a:ext cx="109728" cy="164592"/>
          </a:xfrm>
          <a:prstGeom prst="down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4CC7C8FF-1D15-545F-708C-CDD5AE8E8F07}"/>
              </a:ext>
            </a:extLst>
          </p:cNvPr>
          <p:cNvSpPr/>
          <p:nvPr/>
        </p:nvSpPr>
        <p:spPr>
          <a:xfrm>
            <a:off x="7027707" y="1523714"/>
            <a:ext cx="109728" cy="164592"/>
          </a:xfrm>
          <a:prstGeom prst="down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A216423-B34A-D7B5-F43B-916BC6601350}"/>
              </a:ext>
            </a:extLst>
          </p:cNvPr>
          <p:cNvSpPr/>
          <p:nvPr/>
        </p:nvSpPr>
        <p:spPr>
          <a:xfrm>
            <a:off x="371030" y="1806440"/>
            <a:ext cx="219456" cy="219456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0FEB63-B4FF-EB76-233C-09F9ECE985C7}"/>
              </a:ext>
            </a:extLst>
          </p:cNvPr>
          <p:cNvSpPr txBox="1"/>
          <p:nvPr/>
        </p:nvSpPr>
        <p:spPr>
          <a:xfrm>
            <a:off x="677154" y="1777860"/>
            <a:ext cx="1948871" cy="26468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lang="en-US" altLang="zh-CN" sz="1600" b="1" dirty="0" err="1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EasyOPD</a:t>
            </a:r>
            <a:r>
              <a:rPr sz="16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Layer</a:t>
            </a: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1A527E1-BEF1-9E6A-98F9-2CE5A2D8D726}"/>
              </a:ext>
            </a:extLst>
          </p:cNvPr>
          <p:cNvGrpSpPr/>
          <p:nvPr/>
        </p:nvGrpSpPr>
        <p:grpSpPr>
          <a:xfrm>
            <a:off x="464068" y="2169814"/>
            <a:ext cx="1005839" cy="804672"/>
            <a:chOff x="811036" y="2747267"/>
            <a:chExt cx="1005839" cy="804672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EA5D0CC6-BE65-82E7-760E-6E09F86BF52E}"/>
                </a:ext>
              </a:extLst>
            </p:cNvPr>
            <p:cNvSpPr/>
            <p:nvPr/>
          </p:nvSpPr>
          <p:spPr>
            <a:xfrm>
              <a:off x="811036" y="2747267"/>
              <a:ext cx="1005839" cy="80467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598972-A673-2CA9-78D8-7E64702B629D}"/>
                </a:ext>
              </a:extLst>
            </p:cNvPr>
            <p:cNvSpPr txBox="1"/>
            <p:nvPr/>
          </p:nvSpPr>
          <p:spPr>
            <a:xfrm>
              <a:off x="884187" y="2865384"/>
              <a:ext cx="851999" cy="5724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Registry</a:t>
              </a:r>
              <a:endParaRPr lang="en-US" sz="14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" altLang="zh-CN" sz="1050" dirty="0">
                  <a:solidFill>
                    <a:srgbClr val="4755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 registration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CEF4B0B6-7E17-2EF6-9014-9AE07302F6FE}"/>
              </a:ext>
            </a:extLst>
          </p:cNvPr>
          <p:cNvGrpSpPr/>
          <p:nvPr/>
        </p:nvGrpSpPr>
        <p:grpSpPr>
          <a:xfrm>
            <a:off x="2847859" y="2169814"/>
            <a:ext cx="3611880" cy="804672"/>
            <a:chOff x="3147127" y="2747267"/>
            <a:chExt cx="3611880" cy="804672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215570BB-5963-51B6-719D-CEE366B56A77}"/>
                </a:ext>
              </a:extLst>
            </p:cNvPr>
            <p:cNvSpPr/>
            <p:nvPr/>
          </p:nvSpPr>
          <p:spPr>
            <a:xfrm>
              <a:off x="3147127" y="2747267"/>
              <a:ext cx="3611880" cy="80467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A24347E-55EA-0059-BD51-CFE39BE0A322}"/>
                </a:ext>
              </a:extLst>
            </p:cNvPr>
            <p:cNvSpPr txBox="1"/>
            <p:nvPr/>
          </p:nvSpPr>
          <p:spPr>
            <a:xfrm>
              <a:off x="4059241" y="2786354"/>
              <a:ext cx="1961387" cy="3954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0F76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endParaRPr lang="en-US" sz="14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" altLang="zh-CN" sz="1050" dirty="0">
                  <a:solidFill>
                    <a:srgbClr val="4755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Unified OPD method library</a:t>
              </a:r>
              <a:endParaRPr lang="en" altLang="zh-CN" sz="14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FAE50812-9C00-D3A1-5329-D46C645BE1DE}"/>
                </a:ext>
              </a:extLst>
            </p:cNvPr>
            <p:cNvSpPr/>
            <p:nvPr/>
          </p:nvSpPr>
          <p:spPr>
            <a:xfrm>
              <a:off x="3354364" y="3259331"/>
              <a:ext cx="384048" cy="164592"/>
            </a:xfrm>
            <a:prstGeom prst="roundRect">
              <a:avLst/>
            </a:prstGeom>
            <a:solidFill>
              <a:srgbClr val="FB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r>
                <a:rPr lang="en-US" altLang="zh-CN" sz="869" b="1" dirty="0">
                  <a:solidFill>
                    <a:srgbClr val="0F76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GKD</a:t>
              </a:r>
              <a:endParaRPr sz="869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DFB79E3F-621B-D972-6423-EABCE8E91E3A}"/>
                </a:ext>
              </a:extLst>
            </p:cNvPr>
            <p:cNvSpPr/>
            <p:nvPr/>
          </p:nvSpPr>
          <p:spPr>
            <a:xfrm>
              <a:off x="3793557" y="3259331"/>
              <a:ext cx="571246" cy="164592"/>
            </a:xfrm>
            <a:prstGeom prst="roundRect">
              <a:avLst/>
            </a:prstGeom>
            <a:solidFill>
              <a:srgbClr val="FB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r>
                <a:rPr lang="en-US" altLang="zh-CN" sz="869" b="1" dirty="0" err="1">
                  <a:solidFill>
                    <a:srgbClr val="0F76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MiniLLM</a:t>
              </a:r>
              <a:endParaRPr sz="869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57C6E7D-5050-70DD-6BDD-87FC93715778}"/>
                </a:ext>
              </a:extLst>
            </p:cNvPr>
            <p:cNvSpPr/>
            <p:nvPr/>
          </p:nvSpPr>
          <p:spPr>
            <a:xfrm>
              <a:off x="4419667" y="3259331"/>
              <a:ext cx="406273" cy="164592"/>
            </a:xfrm>
            <a:prstGeom prst="roundRect">
              <a:avLst/>
            </a:prstGeom>
            <a:solidFill>
              <a:srgbClr val="FB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r>
                <a:rPr lang="en-US" altLang="zh-CN" sz="869" b="1" dirty="0">
                  <a:solidFill>
                    <a:srgbClr val="0F76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OPSD</a:t>
              </a:r>
              <a:endParaRPr sz="869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81B2C707-6692-51D4-23E3-7358CFC317A0}"/>
                </a:ext>
              </a:extLst>
            </p:cNvPr>
            <p:cNvSpPr/>
            <p:nvPr/>
          </p:nvSpPr>
          <p:spPr>
            <a:xfrm>
              <a:off x="4880804" y="3259331"/>
              <a:ext cx="438912" cy="164592"/>
            </a:xfrm>
            <a:prstGeom prst="roundRect">
              <a:avLst/>
            </a:prstGeom>
            <a:solidFill>
              <a:srgbClr val="FB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r>
                <a:rPr lang="en-US" altLang="zh-CN" sz="869" b="1" dirty="0">
                  <a:solidFill>
                    <a:srgbClr val="0F76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SRPO</a:t>
              </a:r>
              <a:endParaRPr sz="869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80D2F8AF-5BFE-0A24-F86B-2E2E28D24D20}"/>
                </a:ext>
              </a:extLst>
            </p:cNvPr>
            <p:cNvSpPr/>
            <p:nvPr/>
          </p:nvSpPr>
          <p:spPr>
            <a:xfrm>
              <a:off x="5374580" y="3259331"/>
              <a:ext cx="438912" cy="164592"/>
            </a:xfrm>
            <a:prstGeom prst="roundRect">
              <a:avLst/>
            </a:prstGeom>
            <a:solidFill>
              <a:srgbClr val="FB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r>
                <a:rPr lang="en-US" altLang="zh-CN" sz="869" b="1" dirty="0" err="1">
                  <a:solidFill>
                    <a:srgbClr val="0F76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SimCT</a:t>
              </a:r>
              <a:endParaRPr sz="869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E95FE5FF-621D-2A3A-A9A2-A19021565153}"/>
                </a:ext>
              </a:extLst>
            </p:cNvPr>
            <p:cNvSpPr/>
            <p:nvPr/>
          </p:nvSpPr>
          <p:spPr>
            <a:xfrm>
              <a:off x="5868356" y="3259331"/>
              <a:ext cx="384048" cy="164592"/>
            </a:xfrm>
            <a:prstGeom prst="roundRect">
              <a:avLst/>
            </a:prstGeom>
            <a:solidFill>
              <a:srgbClr val="FB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r>
                <a:rPr lang="en-US" sz="869" b="1" dirty="0">
                  <a:solidFill>
                    <a:srgbClr val="0F76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SOD</a:t>
              </a:r>
              <a:endParaRPr sz="869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9EBF2D3F-FFCE-9310-9727-D15DFDFC122A}"/>
                </a:ext>
              </a:extLst>
            </p:cNvPr>
            <p:cNvSpPr/>
            <p:nvPr/>
          </p:nvSpPr>
          <p:spPr>
            <a:xfrm>
              <a:off x="6307268" y="3259331"/>
              <a:ext cx="228600" cy="164592"/>
            </a:xfrm>
            <a:prstGeom prst="roundRect">
              <a:avLst/>
            </a:prstGeom>
            <a:solidFill>
              <a:srgbClr val="FB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r>
                <a:rPr sz="869" b="1">
                  <a:solidFill>
                    <a:srgbClr val="0F766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</a:p>
          </p:txBody>
        </p:sp>
      </p:grp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6DAE88B5-3C76-54DE-F0D5-E63FAD2420C8}"/>
              </a:ext>
            </a:extLst>
          </p:cNvPr>
          <p:cNvSpPr/>
          <p:nvPr/>
        </p:nvSpPr>
        <p:spPr>
          <a:xfrm>
            <a:off x="849254" y="3268219"/>
            <a:ext cx="7200000" cy="28787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D236B85C-96DD-911D-EA74-6E4DB8F7B993}"/>
              </a:ext>
            </a:extLst>
          </p:cNvPr>
          <p:cNvSpPr/>
          <p:nvPr/>
        </p:nvSpPr>
        <p:spPr>
          <a:xfrm>
            <a:off x="4598935" y="3094509"/>
            <a:ext cx="109728" cy="164592"/>
          </a:xfrm>
          <a:prstGeom prst="downArrow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Up Arrow 53">
            <a:extLst>
              <a:ext uri="{FF2B5EF4-FFF2-40B4-BE49-F238E27FC236}">
                <a16:creationId xmlns:a16="http://schemas.microsoft.com/office/drawing/2014/main" id="{FD6CA60F-CD54-EAFF-BEB3-3CE3DCF14B56}"/>
              </a:ext>
            </a:extLst>
          </p:cNvPr>
          <p:cNvSpPr/>
          <p:nvPr/>
        </p:nvSpPr>
        <p:spPr>
          <a:xfrm>
            <a:off x="4598935" y="3588960"/>
            <a:ext cx="109728" cy="164592"/>
          </a:xfrm>
          <a:prstGeom prst="upArrow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4BEC210-4568-068E-348E-BFAB7447479E}"/>
              </a:ext>
            </a:extLst>
          </p:cNvPr>
          <p:cNvSpPr/>
          <p:nvPr/>
        </p:nvSpPr>
        <p:spPr>
          <a:xfrm>
            <a:off x="279596" y="3749065"/>
            <a:ext cx="8477165" cy="1115568"/>
          </a:xfrm>
          <a:prstGeom prst="roundRect">
            <a:avLst/>
          </a:prstGeom>
          <a:solidFill>
            <a:srgbClr val="FBFCFD"/>
          </a:solidFill>
          <a:ln w="1397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0548CCF-B27C-19E3-D0A0-3C094A2DE669}"/>
              </a:ext>
            </a:extLst>
          </p:cNvPr>
          <p:cNvSpPr/>
          <p:nvPr/>
        </p:nvSpPr>
        <p:spPr>
          <a:xfrm>
            <a:off x="378981" y="3840666"/>
            <a:ext cx="219456" cy="219456"/>
          </a:xfrm>
          <a:prstGeom prst="ellipse">
            <a:avLst/>
          </a:prstGeom>
          <a:solidFill>
            <a:srgbClr val="4B5563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D77D47-F320-5D85-4CA0-9298EDF48A7C}"/>
              </a:ext>
            </a:extLst>
          </p:cNvPr>
          <p:cNvSpPr txBox="1"/>
          <p:nvPr/>
        </p:nvSpPr>
        <p:spPr>
          <a:xfrm>
            <a:off x="685105" y="3803496"/>
            <a:ext cx="2468880" cy="26468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1600" b="1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verl</a:t>
            </a:r>
            <a:r>
              <a:rPr sz="1600" b="1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Execution Substrate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63434BB-DECE-2839-DC5D-54DE21A0A00D}"/>
              </a:ext>
            </a:extLst>
          </p:cNvPr>
          <p:cNvSpPr/>
          <p:nvPr/>
        </p:nvSpPr>
        <p:spPr>
          <a:xfrm>
            <a:off x="535622" y="4174094"/>
            <a:ext cx="1078992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CB8DF5-010E-1C95-E7D3-1F05413BF53F}"/>
              </a:ext>
            </a:extLst>
          </p:cNvPr>
          <p:cNvSpPr txBox="1"/>
          <p:nvPr/>
        </p:nvSpPr>
        <p:spPr>
          <a:xfrm>
            <a:off x="581348" y="4241018"/>
            <a:ext cx="987551" cy="18620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DA96E1-E380-6EB5-3D31-5F3381B3E388}"/>
              </a:ext>
            </a:extLst>
          </p:cNvPr>
          <p:cNvSpPr txBox="1"/>
          <p:nvPr/>
        </p:nvSpPr>
        <p:spPr>
          <a:xfrm>
            <a:off x="581348" y="4443084"/>
            <a:ext cx="987551" cy="15696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PPO / Distillation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AA6EE6D6-681B-BB30-561C-9A1CE951663F}"/>
              </a:ext>
            </a:extLst>
          </p:cNvPr>
          <p:cNvSpPr/>
          <p:nvPr/>
        </p:nvSpPr>
        <p:spPr>
          <a:xfrm>
            <a:off x="1724342" y="4174094"/>
            <a:ext cx="1243584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EA7B74-374C-D7BB-A67C-C624E01CB389}"/>
              </a:ext>
            </a:extLst>
          </p:cNvPr>
          <p:cNvSpPr txBox="1"/>
          <p:nvPr/>
        </p:nvSpPr>
        <p:spPr>
          <a:xfrm>
            <a:off x="1770061" y="4241018"/>
            <a:ext cx="1152144" cy="18620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Rollout Engine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74DB21-AF00-0ACC-92C2-7EA5D15C504A}"/>
              </a:ext>
            </a:extLst>
          </p:cNvPr>
          <p:cNvSpPr txBox="1"/>
          <p:nvPr/>
        </p:nvSpPr>
        <p:spPr>
          <a:xfrm>
            <a:off x="1770061" y="4443084"/>
            <a:ext cx="1152144" cy="15696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Generation &amp; Rollout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6E4A115-4B88-E9DE-F2CE-F798C3F9FD2A}"/>
              </a:ext>
            </a:extLst>
          </p:cNvPr>
          <p:cNvSpPr/>
          <p:nvPr/>
        </p:nvSpPr>
        <p:spPr>
          <a:xfrm>
            <a:off x="3077654" y="4174094"/>
            <a:ext cx="1225296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878B7E-16E0-F8AC-0D84-2E0282BA2037}"/>
              </a:ext>
            </a:extLst>
          </p:cNvPr>
          <p:cNvSpPr txBox="1"/>
          <p:nvPr/>
        </p:nvSpPr>
        <p:spPr>
          <a:xfrm>
            <a:off x="3123373" y="4241018"/>
            <a:ext cx="1133856" cy="18620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Reward Manager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3F89427-364C-C4BA-C499-3294BF64D184}"/>
              </a:ext>
            </a:extLst>
          </p:cNvPr>
          <p:cNvSpPr txBox="1"/>
          <p:nvPr/>
        </p:nvSpPr>
        <p:spPr>
          <a:xfrm>
            <a:off x="3123373" y="4443084"/>
            <a:ext cx="1133856" cy="15696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Reward Computation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32D0290-878A-FE5E-B78A-1BCDA73CB903}"/>
              </a:ext>
            </a:extLst>
          </p:cNvPr>
          <p:cNvSpPr/>
          <p:nvPr/>
        </p:nvSpPr>
        <p:spPr>
          <a:xfrm>
            <a:off x="4412678" y="4174094"/>
            <a:ext cx="132588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4CDD62-EF8D-FCA8-5AAF-DC62CA05E8AE}"/>
              </a:ext>
            </a:extLst>
          </p:cNvPr>
          <p:cNvSpPr txBox="1"/>
          <p:nvPr/>
        </p:nvSpPr>
        <p:spPr>
          <a:xfrm>
            <a:off x="4458404" y="4174083"/>
            <a:ext cx="1234439" cy="35394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zh-CN" altLang="en-US" sz="11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Workers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D67178-A70F-219B-5207-BCFA1BD64ED2}"/>
              </a:ext>
            </a:extLst>
          </p:cNvPr>
          <p:cNvSpPr txBox="1"/>
          <p:nvPr/>
        </p:nvSpPr>
        <p:spPr>
          <a:xfrm>
            <a:off x="4458404" y="4493886"/>
            <a:ext cx="1234439" cy="15696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execution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9BF926D6-68B6-6622-290A-D5B694711C80}"/>
              </a:ext>
            </a:extLst>
          </p:cNvPr>
          <p:cNvSpPr/>
          <p:nvPr/>
        </p:nvSpPr>
        <p:spPr>
          <a:xfrm>
            <a:off x="5848286" y="4174094"/>
            <a:ext cx="1408176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8905EA-E290-2EB8-AD6E-C6FAC9B21D90}"/>
              </a:ext>
            </a:extLst>
          </p:cNvPr>
          <p:cNvSpPr txBox="1"/>
          <p:nvPr/>
        </p:nvSpPr>
        <p:spPr>
          <a:xfrm>
            <a:off x="5894006" y="4186563"/>
            <a:ext cx="1316736" cy="357021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Forward /
Logit Processor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A32E285F-D585-9B09-123A-25491202B577}"/>
              </a:ext>
            </a:extLst>
          </p:cNvPr>
          <p:cNvSpPr/>
          <p:nvPr/>
        </p:nvSpPr>
        <p:spPr>
          <a:xfrm>
            <a:off x="7366190" y="4174094"/>
            <a:ext cx="118872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E36C84-3068-EE97-DC7F-6279A1957569}"/>
              </a:ext>
            </a:extLst>
          </p:cNvPr>
          <p:cNvSpPr txBox="1"/>
          <p:nvPr/>
        </p:nvSpPr>
        <p:spPr>
          <a:xfrm>
            <a:off x="7399468" y="4243736"/>
            <a:ext cx="1143000" cy="18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Execution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BB50E0-271D-8BD3-1025-48BFEC1C290C}"/>
              </a:ext>
            </a:extLst>
          </p:cNvPr>
          <p:cNvSpPr txBox="1"/>
          <p:nvPr/>
        </p:nvSpPr>
        <p:spPr>
          <a:xfrm>
            <a:off x="7421053" y="4440264"/>
            <a:ext cx="1097280" cy="15696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9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scaling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B4388578-50F8-3DB5-56E4-13B7E4816ACE}"/>
              </a:ext>
            </a:extLst>
          </p:cNvPr>
          <p:cNvSpPr/>
          <p:nvPr/>
        </p:nvSpPr>
        <p:spPr>
          <a:xfrm>
            <a:off x="1489795" y="5024143"/>
            <a:ext cx="8406084" cy="430107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lang="en" altLang="zh-CN" sz="1600" b="1" dirty="0" err="1">
                <a:solidFill>
                  <a:srgbClr val="D26A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EasyOPD</a:t>
            </a:r>
            <a:r>
              <a:rPr lang="en" altLang="zh-CN" sz="1600" b="1" dirty="0">
                <a:solidFill>
                  <a:srgbClr val="D26A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separates user-side invocation, method-level OPD logic, and </a:t>
            </a:r>
            <a:r>
              <a:rPr lang="en" altLang="zh-CN" sz="1600" b="1" dirty="0" err="1">
                <a:solidFill>
                  <a:srgbClr val="D26A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verl</a:t>
            </a:r>
            <a:r>
              <a:rPr lang="en" altLang="zh-CN" sz="1600" b="1" dirty="0">
                <a:solidFill>
                  <a:srgbClr val="D26A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execution</a:t>
            </a:r>
            <a:r>
              <a:rPr sz="1600" b="1" dirty="0">
                <a:solidFill>
                  <a:srgbClr val="D26A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A46DB21C-A149-F2D9-4370-684AB3C02A0F}"/>
              </a:ext>
            </a:extLst>
          </p:cNvPr>
          <p:cNvGrpSpPr/>
          <p:nvPr/>
        </p:nvGrpSpPr>
        <p:grpSpPr>
          <a:xfrm>
            <a:off x="1642845" y="2169814"/>
            <a:ext cx="1004400" cy="804672"/>
            <a:chOff x="1981868" y="2747267"/>
            <a:chExt cx="1004400" cy="804672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314D0A10-8265-9597-CF77-6317C49A724D}"/>
                </a:ext>
              </a:extLst>
            </p:cNvPr>
            <p:cNvSpPr/>
            <p:nvPr/>
          </p:nvSpPr>
          <p:spPr>
            <a:xfrm>
              <a:off x="1981868" y="2747267"/>
              <a:ext cx="1004400" cy="80467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807A86D-C120-0992-1C7A-185B6B8F0B21}"/>
                </a:ext>
              </a:extLst>
            </p:cNvPr>
            <p:cNvSpPr txBox="1"/>
            <p:nvPr/>
          </p:nvSpPr>
          <p:spPr>
            <a:xfrm>
              <a:off x="2032360" y="2879766"/>
              <a:ext cx="932688" cy="557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Config</a:t>
              </a:r>
              <a:endParaRPr lang="en-US" sz="120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" altLang="zh-CN" sz="1050" dirty="0">
                  <a:solidFill>
                    <a:srgbClr val="4755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unified
hyperparameters</a:t>
              </a: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6AC6A464-D91C-25CC-F428-8F883D2E98F2}"/>
              </a:ext>
            </a:extLst>
          </p:cNvPr>
          <p:cNvGrpSpPr/>
          <p:nvPr/>
        </p:nvGrpSpPr>
        <p:grpSpPr>
          <a:xfrm>
            <a:off x="6650571" y="2169820"/>
            <a:ext cx="864000" cy="804672"/>
            <a:chOff x="6925986" y="2747267"/>
            <a:chExt cx="864000" cy="804672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3D4250E0-C369-A0EE-4118-6C959666B4DA}"/>
                </a:ext>
              </a:extLst>
            </p:cNvPr>
            <p:cNvSpPr/>
            <p:nvPr/>
          </p:nvSpPr>
          <p:spPr>
            <a:xfrm>
              <a:off x="6925986" y="2747267"/>
              <a:ext cx="864000" cy="80467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80AC141-C19E-4195-1639-605BD75C341F}"/>
                </a:ext>
              </a:extLst>
            </p:cNvPr>
            <p:cNvSpPr txBox="1"/>
            <p:nvPr/>
          </p:nvSpPr>
          <p:spPr>
            <a:xfrm>
              <a:off x="7008075" y="2935207"/>
              <a:ext cx="722376" cy="3724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Utils</a:t>
              </a:r>
            </a:p>
            <a:p>
              <a:pPr algn="ctr"/>
              <a:r>
                <a:rPr lang="en" altLang="zh-CN" sz="1050" dirty="0">
                  <a:solidFill>
                    <a:srgbClr val="4755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shared tools</a:t>
              </a: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A404F0E5-6A73-03D6-6A21-DA026C9E513F}"/>
              </a:ext>
            </a:extLst>
          </p:cNvPr>
          <p:cNvGrpSpPr/>
          <p:nvPr/>
        </p:nvGrpSpPr>
        <p:grpSpPr>
          <a:xfrm>
            <a:off x="7702005" y="2169814"/>
            <a:ext cx="859377" cy="804672"/>
            <a:chOff x="7937786" y="2747267"/>
            <a:chExt cx="859377" cy="804672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282F1A4D-2F3B-01F2-3C73-4D73D5EFED34}"/>
                </a:ext>
              </a:extLst>
            </p:cNvPr>
            <p:cNvSpPr/>
            <p:nvPr/>
          </p:nvSpPr>
          <p:spPr>
            <a:xfrm>
              <a:off x="7937786" y="2747267"/>
              <a:ext cx="859377" cy="80467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0F766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9FD0171-722E-00B1-4D10-49E1542AE8B5}"/>
                </a:ext>
              </a:extLst>
            </p:cNvPr>
            <p:cNvSpPr txBox="1"/>
            <p:nvPr/>
          </p:nvSpPr>
          <p:spPr>
            <a:xfrm>
              <a:off x="8015510" y="2909875"/>
              <a:ext cx="781653" cy="5201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9144" rIns="18288" bIns="9144" anchor="ctr">
              <a:spAutoFit/>
            </a:bodyPr>
            <a:lstStyle/>
            <a:p>
              <a:pPr algn="ctr"/>
              <a:r>
                <a:rPr sz="1160" b="1" dirty="0">
                  <a:solidFill>
                    <a:srgbClr val="11182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Metrics</a:t>
              </a:r>
              <a:endParaRPr lang="en-US" sz="1160" b="1" dirty="0">
                <a:solidFill>
                  <a:srgbClr val="11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" altLang="zh-CN" sz="1050" dirty="0">
                  <a:solidFill>
                    <a:srgbClr val="4755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training statistics</a:t>
              </a:r>
            </a:p>
          </p:txBody>
        </p:sp>
      </p:grpSp>
      <p:sp>
        <p:nvSpPr>
          <p:cNvPr id="94" name="Rounded Rectangle 89">
            <a:extLst>
              <a:ext uri="{FF2B5EF4-FFF2-40B4-BE49-F238E27FC236}">
                <a16:creationId xmlns:a16="http://schemas.microsoft.com/office/drawing/2014/main" id="{73DC12ED-BE1C-323A-23DB-1DEEBAF998FE}"/>
              </a:ext>
            </a:extLst>
          </p:cNvPr>
          <p:cNvSpPr/>
          <p:nvPr/>
        </p:nvSpPr>
        <p:spPr>
          <a:xfrm>
            <a:off x="8957837" y="442700"/>
            <a:ext cx="1901952" cy="4421939"/>
          </a:xfrm>
          <a:prstGeom prst="roundRect">
            <a:avLst>
              <a:gd name="adj" fmla="val 10814"/>
            </a:avLst>
          </a:prstGeom>
          <a:solidFill>
            <a:srgbClr val="FFFFFF"/>
          </a:solidFill>
          <a:ln w="15875">
            <a:solidFill>
              <a:srgbClr val="889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5" name="Oval 90">
            <a:extLst>
              <a:ext uri="{FF2B5EF4-FFF2-40B4-BE49-F238E27FC236}">
                <a16:creationId xmlns:a16="http://schemas.microsoft.com/office/drawing/2014/main" id="{2DFBA92D-E22C-5922-0527-C493572D9BCF}"/>
              </a:ext>
            </a:extLst>
          </p:cNvPr>
          <p:cNvSpPr/>
          <p:nvPr/>
        </p:nvSpPr>
        <p:spPr>
          <a:xfrm>
            <a:off x="9075959" y="547898"/>
            <a:ext cx="274320" cy="274320"/>
          </a:xfrm>
          <a:prstGeom prst="ellipse">
            <a:avLst/>
          </a:prstGeom>
          <a:solidFill>
            <a:srgbClr val="1E63D8"/>
          </a:solidFill>
          <a:ln>
            <a:solidFill>
              <a:srgbClr val="1E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6" name="TextBox 91">
            <a:extLst>
              <a:ext uri="{FF2B5EF4-FFF2-40B4-BE49-F238E27FC236}">
                <a16:creationId xmlns:a16="http://schemas.microsoft.com/office/drawing/2014/main" id="{3E9CE09C-C556-E3CF-3835-1B632B17AA9A}"/>
              </a:ext>
            </a:extLst>
          </p:cNvPr>
          <p:cNvSpPr txBox="1"/>
          <p:nvPr/>
        </p:nvSpPr>
        <p:spPr>
          <a:xfrm>
            <a:off x="9403442" y="534253"/>
            <a:ext cx="727600" cy="301621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 dirty="0">
                <a:solidFill>
                  <a:srgbClr val="1E63D8"/>
                </a:solidFill>
                <a:latin typeface="Aptos"/>
              </a:rPr>
              <a:t>User</a:t>
            </a:r>
          </a:p>
        </p:txBody>
      </p:sp>
      <p:sp>
        <p:nvSpPr>
          <p:cNvPr id="97" name="TextBox 92">
            <a:extLst>
              <a:ext uri="{FF2B5EF4-FFF2-40B4-BE49-F238E27FC236}">
                <a16:creationId xmlns:a16="http://schemas.microsoft.com/office/drawing/2014/main" id="{92D879C0-8D18-3E5C-F545-409E8A95BEA6}"/>
              </a:ext>
            </a:extLst>
          </p:cNvPr>
          <p:cNvSpPr txBox="1"/>
          <p:nvPr/>
        </p:nvSpPr>
        <p:spPr>
          <a:xfrm>
            <a:off x="9040866" y="924782"/>
            <a:ext cx="1713176" cy="486287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lang="en-US" altLang="zh-CN" sz="1400" dirty="0">
                <a:solidFill>
                  <a:srgbClr val="0F1B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400" dirty="0">
                <a:solidFill>
                  <a:srgbClr val="0F1B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hoose method, config,</a:t>
            </a:r>
            <a:r>
              <a:rPr lang="zh-CN" altLang="en-US" sz="1400" dirty="0">
                <a:solidFill>
                  <a:srgbClr val="0F1B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0F1B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script.</a:t>
            </a:r>
          </a:p>
        </p:txBody>
      </p:sp>
      <p:sp>
        <p:nvSpPr>
          <p:cNvPr id="98" name="Rectangle 93">
            <a:extLst>
              <a:ext uri="{FF2B5EF4-FFF2-40B4-BE49-F238E27FC236}">
                <a16:creationId xmlns:a16="http://schemas.microsoft.com/office/drawing/2014/main" id="{2E6F35A8-66D6-1DDD-11AE-E2B78BA42A63}"/>
              </a:ext>
            </a:extLst>
          </p:cNvPr>
          <p:cNvSpPr/>
          <p:nvPr/>
        </p:nvSpPr>
        <p:spPr>
          <a:xfrm>
            <a:off x="9087454" y="1595220"/>
            <a:ext cx="1620000" cy="9144"/>
          </a:xfrm>
          <a:prstGeom prst="rect">
            <a:avLst/>
          </a:prstGeom>
          <a:solidFill>
            <a:srgbClr val="889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4">
            <a:extLst>
              <a:ext uri="{FF2B5EF4-FFF2-40B4-BE49-F238E27FC236}">
                <a16:creationId xmlns:a16="http://schemas.microsoft.com/office/drawing/2014/main" id="{E13E1432-72CD-E93F-2F01-F8E5372E22A6}"/>
              </a:ext>
            </a:extLst>
          </p:cNvPr>
          <p:cNvSpPr/>
          <p:nvPr/>
        </p:nvSpPr>
        <p:spPr>
          <a:xfrm>
            <a:off x="9080016" y="1820132"/>
            <a:ext cx="274320" cy="274320"/>
          </a:xfrm>
          <a:prstGeom prst="ellipse">
            <a:avLst/>
          </a:prstGeom>
          <a:solidFill>
            <a:srgbClr val="147E83"/>
          </a:solidFill>
          <a:ln>
            <a:solidFill>
              <a:srgbClr val="14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0" name="TextBox 95">
            <a:extLst>
              <a:ext uri="{FF2B5EF4-FFF2-40B4-BE49-F238E27FC236}">
                <a16:creationId xmlns:a16="http://schemas.microsoft.com/office/drawing/2014/main" id="{2F9E3780-6241-6753-B118-7622D92195D0}"/>
              </a:ext>
            </a:extLst>
          </p:cNvPr>
          <p:cNvSpPr txBox="1"/>
          <p:nvPr/>
        </p:nvSpPr>
        <p:spPr>
          <a:xfrm>
            <a:off x="9393187" y="1809588"/>
            <a:ext cx="1025360" cy="301621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 dirty="0" err="1">
                <a:solidFill>
                  <a:srgbClr val="147E83"/>
                </a:solidFill>
                <a:latin typeface="Aptos"/>
              </a:rPr>
              <a:t>EasyOPD</a:t>
            </a:r>
            <a:endParaRPr sz="1600" b="1" dirty="0">
              <a:solidFill>
                <a:srgbClr val="147E83"/>
              </a:solidFill>
              <a:latin typeface="Aptos"/>
            </a:endParaRPr>
          </a:p>
        </p:txBody>
      </p:sp>
      <p:sp>
        <p:nvSpPr>
          <p:cNvPr id="101" name="TextBox 96">
            <a:extLst>
              <a:ext uri="{FF2B5EF4-FFF2-40B4-BE49-F238E27FC236}">
                <a16:creationId xmlns:a16="http://schemas.microsoft.com/office/drawing/2014/main" id="{BA130FDD-92C9-78D8-2EE2-4DA5420C73BB}"/>
              </a:ext>
            </a:extLst>
          </p:cNvPr>
          <p:cNvSpPr txBox="1"/>
          <p:nvPr/>
        </p:nvSpPr>
        <p:spPr>
          <a:xfrm>
            <a:off x="9047596" y="2218721"/>
            <a:ext cx="1706451" cy="270843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Unify OPD methods</a:t>
            </a:r>
            <a:r>
              <a:rPr lang="en" sz="1400" dirty="0">
                <a:solidFill>
                  <a:srgbClr val="0F1B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2" name="Rectangle 97">
            <a:extLst>
              <a:ext uri="{FF2B5EF4-FFF2-40B4-BE49-F238E27FC236}">
                <a16:creationId xmlns:a16="http://schemas.microsoft.com/office/drawing/2014/main" id="{2D020139-E078-844D-B93C-671DFE1F646F}"/>
              </a:ext>
            </a:extLst>
          </p:cNvPr>
          <p:cNvSpPr/>
          <p:nvPr/>
        </p:nvSpPr>
        <p:spPr>
          <a:xfrm>
            <a:off x="9087454" y="2771222"/>
            <a:ext cx="1620000" cy="9144"/>
          </a:xfrm>
          <a:prstGeom prst="rect">
            <a:avLst/>
          </a:prstGeom>
          <a:solidFill>
            <a:srgbClr val="889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98">
            <a:extLst>
              <a:ext uri="{FF2B5EF4-FFF2-40B4-BE49-F238E27FC236}">
                <a16:creationId xmlns:a16="http://schemas.microsoft.com/office/drawing/2014/main" id="{7ED956F0-0833-B953-BB0C-96EAF25C8149}"/>
              </a:ext>
            </a:extLst>
          </p:cNvPr>
          <p:cNvSpPr/>
          <p:nvPr/>
        </p:nvSpPr>
        <p:spPr>
          <a:xfrm>
            <a:off x="9082883" y="3017617"/>
            <a:ext cx="274320" cy="274320"/>
          </a:xfrm>
          <a:prstGeom prst="ellipse">
            <a:avLst/>
          </a:prstGeom>
          <a:solidFill>
            <a:srgbClr val="5A6275"/>
          </a:solidFill>
          <a:ln>
            <a:solidFill>
              <a:srgbClr val="5A6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4" name="TextBox 99">
            <a:extLst>
              <a:ext uri="{FF2B5EF4-FFF2-40B4-BE49-F238E27FC236}">
                <a16:creationId xmlns:a16="http://schemas.microsoft.com/office/drawing/2014/main" id="{52BD971E-BB98-3929-371F-07BD6FBFD568}"/>
              </a:ext>
            </a:extLst>
          </p:cNvPr>
          <p:cNvSpPr txBox="1"/>
          <p:nvPr/>
        </p:nvSpPr>
        <p:spPr>
          <a:xfrm>
            <a:off x="9411663" y="2994855"/>
            <a:ext cx="1426770" cy="301621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 dirty="0" err="1">
                <a:solidFill>
                  <a:srgbClr val="465066"/>
                </a:solidFill>
                <a:latin typeface="Aptos"/>
              </a:rPr>
              <a:t>ver</a:t>
            </a:r>
            <a:r>
              <a:rPr lang="en-US" altLang="zh-CN" sz="1600" b="1" dirty="0" err="1">
                <a:solidFill>
                  <a:srgbClr val="465066"/>
                </a:solidFill>
                <a:latin typeface="Aptos"/>
              </a:rPr>
              <a:t>l</a:t>
            </a:r>
            <a:endParaRPr sz="1600" b="1" dirty="0">
              <a:solidFill>
                <a:srgbClr val="465066"/>
              </a:solidFill>
              <a:latin typeface="Aptos"/>
            </a:endParaRPr>
          </a:p>
        </p:txBody>
      </p:sp>
      <p:sp>
        <p:nvSpPr>
          <p:cNvPr id="105" name="TextBox 100">
            <a:extLst>
              <a:ext uri="{FF2B5EF4-FFF2-40B4-BE49-F238E27FC236}">
                <a16:creationId xmlns:a16="http://schemas.microsoft.com/office/drawing/2014/main" id="{2DB75FD3-ADA9-DFB3-5003-D9221C7BE4DA}"/>
              </a:ext>
            </a:extLst>
          </p:cNvPr>
          <p:cNvSpPr txBox="1"/>
          <p:nvPr/>
        </p:nvSpPr>
        <p:spPr>
          <a:xfrm>
            <a:off x="9047590" y="3303301"/>
            <a:ext cx="1659864" cy="486287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lang="en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distributed training</a:t>
            </a:r>
            <a:r>
              <a:rPr sz="1400" dirty="0">
                <a:solidFill>
                  <a:srgbClr val="0F1B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6" name="Rounded Rectangle 101">
            <a:extLst>
              <a:ext uri="{FF2B5EF4-FFF2-40B4-BE49-F238E27FC236}">
                <a16:creationId xmlns:a16="http://schemas.microsoft.com/office/drawing/2014/main" id="{BC81FD41-C0C9-D104-F3BB-FA2FA944B4E0}"/>
              </a:ext>
            </a:extLst>
          </p:cNvPr>
          <p:cNvSpPr/>
          <p:nvPr/>
        </p:nvSpPr>
        <p:spPr>
          <a:xfrm>
            <a:off x="9108396" y="3942094"/>
            <a:ext cx="1603826" cy="778849"/>
          </a:xfrm>
          <a:prstGeom prst="roundRect">
            <a:avLst>
              <a:gd name="adj" fmla="val 19671"/>
            </a:avLst>
          </a:prstGeom>
          <a:solidFill>
            <a:srgbClr val="FFF7EE"/>
          </a:solidFill>
          <a:ln w="15875">
            <a:solidFill>
              <a:srgbClr val="E89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1400" b="1" dirty="0">
                <a:solidFill>
                  <a:srgbClr val="D16A14"/>
                </a:solidFill>
                <a:latin typeface="Aptos"/>
              </a:rPr>
              <a:t>Switch</a:t>
            </a:r>
            <a:r>
              <a:rPr lang="zh-CN" altLang="en-US" sz="1400" b="1" dirty="0">
                <a:solidFill>
                  <a:srgbClr val="D16A14"/>
                </a:solidFill>
                <a:latin typeface="Aptos"/>
              </a:rPr>
              <a:t> </a:t>
            </a:r>
            <a:r>
              <a:rPr lang="en" altLang="zh-CN" sz="1400" b="1" dirty="0">
                <a:solidFill>
                  <a:srgbClr val="D16A14"/>
                </a:solidFill>
                <a:latin typeface="Aptos"/>
              </a:rPr>
              <a:t>methods</a:t>
            </a:r>
          </a:p>
          <a:p>
            <a:pPr algn="ctr"/>
            <a:r>
              <a:rPr lang="en" altLang="zh-CN" sz="1400" b="1" dirty="0">
                <a:solidFill>
                  <a:srgbClr val="D16A14"/>
                </a:solidFill>
                <a:latin typeface="Aptos"/>
              </a:rPr>
              <a:t> by</a:t>
            </a:r>
            <a:r>
              <a:rPr lang="zh-CN" altLang="en-US" sz="1400" b="1" dirty="0">
                <a:solidFill>
                  <a:srgbClr val="D16A14"/>
                </a:solidFill>
                <a:latin typeface="Aptos"/>
              </a:rPr>
              <a:t> </a:t>
            </a:r>
            <a:r>
              <a:rPr lang="en" altLang="zh-CN" sz="1400" b="1" dirty="0">
                <a:solidFill>
                  <a:srgbClr val="D16A14"/>
                </a:solidFill>
                <a:latin typeface="Aptos"/>
              </a:rPr>
              <a:t>changing YAML only</a:t>
            </a:r>
            <a:r>
              <a:rPr lang="en-US" altLang="zh-CN" sz="1400" b="1" dirty="0">
                <a:solidFill>
                  <a:srgbClr val="D16A14"/>
                </a:solidFill>
                <a:latin typeface="Aptos"/>
              </a:rPr>
              <a:t>!</a:t>
            </a:r>
            <a:endParaRPr lang="en" altLang="zh-CN" sz="1400" b="1" dirty="0">
              <a:solidFill>
                <a:srgbClr val="D16A14"/>
              </a:solidFill>
              <a:latin typeface="Aptos"/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CC655C6B-E9F7-0DC4-29D2-249FCC3AD399}"/>
              </a:ext>
            </a:extLst>
          </p:cNvPr>
          <p:cNvSpPr/>
          <p:nvPr/>
        </p:nvSpPr>
        <p:spPr>
          <a:xfrm>
            <a:off x="3456930" y="1806211"/>
            <a:ext cx="2391356" cy="266970"/>
          </a:xfrm>
          <a:prstGeom prst="roundRect">
            <a:avLst/>
          </a:prstGeom>
          <a:solidFill>
            <a:srgbClr val="F8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lang="en" altLang="zh-CN" sz="12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Method-local OPD</a:t>
            </a:r>
            <a:r>
              <a:rPr lang="zh-CN" altLang="en-US" sz="12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12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</a:p>
        </p:txBody>
      </p:sp>
      <p:sp>
        <p:nvSpPr>
          <p:cNvPr id="12" name="Rounded Rectangle 31">
            <a:extLst>
              <a:ext uri="{FF2B5EF4-FFF2-40B4-BE49-F238E27FC236}">
                <a16:creationId xmlns:a16="http://schemas.microsoft.com/office/drawing/2014/main" id="{E7C0508A-22C9-CFCE-95D6-BF7864B8956A}"/>
              </a:ext>
            </a:extLst>
          </p:cNvPr>
          <p:cNvSpPr/>
          <p:nvPr/>
        </p:nvSpPr>
        <p:spPr>
          <a:xfrm>
            <a:off x="2851467" y="3317529"/>
            <a:ext cx="751099" cy="190800"/>
          </a:xfrm>
          <a:prstGeom prst="roundRect">
            <a:avLst/>
          </a:prstGeom>
          <a:solidFill>
            <a:srgbClr val="FB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lang="en-US" sz="120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sz="1200" dirty="0">
              <a:solidFill>
                <a:srgbClr val="0F76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31">
            <a:extLst>
              <a:ext uri="{FF2B5EF4-FFF2-40B4-BE49-F238E27FC236}">
                <a16:creationId xmlns:a16="http://schemas.microsoft.com/office/drawing/2014/main" id="{646A3A8F-CFB4-FB58-C70A-E7BACF6C5F72}"/>
              </a:ext>
            </a:extLst>
          </p:cNvPr>
          <p:cNvSpPr/>
          <p:nvPr/>
        </p:nvSpPr>
        <p:spPr>
          <a:xfrm>
            <a:off x="5848286" y="3312573"/>
            <a:ext cx="751099" cy="190800"/>
          </a:xfrm>
          <a:prstGeom prst="roundRect">
            <a:avLst/>
          </a:prstGeom>
          <a:solidFill>
            <a:srgbClr val="FB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lang="en-US" sz="120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alignment</a:t>
            </a:r>
            <a:endParaRPr sz="1200" dirty="0">
              <a:solidFill>
                <a:srgbClr val="0F76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31">
            <a:extLst>
              <a:ext uri="{FF2B5EF4-FFF2-40B4-BE49-F238E27FC236}">
                <a16:creationId xmlns:a16="http://schemas.microsoft.com/office/drawing/2014/main" id="{8FE93AF8-E9D7-C03D-EC26-A6E7FB562975}"/>
              </a:ext>
            </a:extLst>
          </p:cNvPr>
          <p:cNvSpPr/>
          <p:nvPr/>
        </p:nvSpPr>
        <p:spPr>
          <a:xfrm>
            <a:off x="3815793" y="3320495"/>
            <a:ext cx="889454" cy="190800"/>
          </a:xfrm>
          <a:prstGeom prst="roundRect">
            <a:avLst/>
          </a:prstGeom>
          <a:solidFill>
            <a:srgbClr val="FB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lang="en-US" sz="120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rollout</a:t>
            </a:r>
            <a:endParaRPr sz="1200" dirty="0">
              <a:solidFill>
                <a:srgbClr val="0F76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31">
            <a:extLst>
              <a:ext uri="{FF2B5EF4-FFF2-40B4-BE49-F238E27FC236}">
                <a16:creationId xmlns:a16="http://schemas.microsoft.com/office/drawing/2014/main" id="{94CC9172-A1DB-E29D-25C1-C87272681DB6}"/>
              </a:ext>
            </a:extLst>
          </p:cNvPr>
          <p:cNvSpPr/>
          <p:nvPr/>
        </p:nvSpPr>
        <p:spPr>
          <a:xfrm>
            <a:off x="4901217" y="3320495"/>
            <a:ext cx="751099" cy="190800"/>
          </a:xfrm>
          <a:prstGeom prst="roundRect">
            <a:avLst/>
          </a:prstGeom>
          <a:solidFill>
            <a:srgbClr val="FB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lang="en-US" sz="120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  <a:endParaRPr sz="1200" dirty="0">
              <a:solidFill>
                <a:srgbClr val="0F76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31">
            <a:extLst>
              <a:ext uri="{FF2B5EF4-FFF2-40B4-BE49-F238E27FC236}">
                <a16:creationId xmlns:a16="http://schemas.microsoft.com/office/drawing/2014/main" id="{9393061B-F662-EA0F-F84A-C96F67A0DF03}"/>
              </a:ext>
            </a:extLst>
          </p:cNvPr>
          <p:cNvSpPr/>
          <p:nvPr/>
        </p:nvSpPr>
        <p:spPr>
          <a:xfrm>
            <a:off x="6795355" y="3310738"/>
            <a:ext cx="1082663" cy="190800"/>
          </a:xfrm>
          <a:prstGeom prst="roundRect">
            <a:avLst/>
          </a:prstGeom>
          <a:solidFill>
            <a:srgbClr val="FBFFFF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lang="en-US" sz="120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  <a:r>
              <a:rPr lang="zh-CN" altLang="en-US" sz="120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sidecar</a:t>
            </a:r>
            <a:endParaRPr sz="1200" dirty="0">
              <a:solidFill>
                <a:srgbClr val="0F76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D7A2E8E-7197-B245-8BB4-5DF9DF09C64E}"/>
              </a:ext>
            </a:extLst>
          </p:cNvPr>
          <p:cNvSpPr txBox="1"/>
          <p:nvPr/>
        </p:nvSpPr>
        <p:spPr>
          <a:xfrm>
            <a:off x="1045727" y="3286918"/>
            <a:ext cx="18261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0D6F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" altLang="zh-CN" sz="12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</a:t>
            </a:r>
            <a:r>
              <a:rPr lang="zh-CN" altLang="en-US" sz="12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hooks</a:t>
            </a:r>
            <a:r>
              <a:rPr lang="en" altLang="zh-CN" sz="12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en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ounded Rectangle 5">
            <a:extLst>
              <a:ext uri="{FF2B5EF4-FFF2-40B4-BE49-F238E27FC236}">
                <a16:creationId xmlns:a16="http://schemas.microsoft.com/office/drawing/2014/main" id="{28FB0065-E2E9-C9CF-C399-05C832E83DD0}"/>
              </a:ext>
            </a:extLst>
          </p:cNvPr>
          <p:cNvSpPr/>
          <p:nvPr/>
        </p:nvSpPr>
        <p:spPr>
          <a:xfrm>
            <a:off x="3077654" y="3812062"/>
            <a:ext cx="3611880" cy="266970"/>
          </a:xfrm>
          <a:prstGeom prst="roundRect">
            <a:avLst/>
          </a:prstGeom>
          <a:solidFill>
            <a:srgbClr val="FBFDFE"/>
          </a:solidFill>
          <a:ln w="1016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lang="en" altLang="zh-CN" sz="1200" b="1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 </a:t>
            </a:r>
            <a:r>
              <a:rPr lang="en" altLang="zh-CN" sz="1200" b="1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verl</a:t>
            </a:r>
            <a:r>
              <a:rPr lang="en" altLang="zh-CN" sz="1200" b="1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stable execution substrate</a:t>
            </a:r>
          </a:p>
        </p:txBody>
      </p:sp>
      <p:pic>
        <p:nvPicPr>
          <p:cNvPr id="47" name="图片 46" descr="徽标, 图标&#10;&#10;描述已自动生成">
            <a:extLst>
              <a:ext uri="{FF2B5EF4-FFF2-40B4-BE49-F238E27FC236}">
                <a16:creationId xmlns:a16="http://schemas.microsoft.com/office/drawing/2014/main" id="{A5EDFC78-AC22-18DB-0756-AAC1504A7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785" y="935918"/>
            <a:ext cx="387383" cy="387383"/>
          </a:xfrm>
          <a:prstGeom prst="rect">
            <a:avLst/>
          </a:prstGeom>
        </p:spPr>
      </p:pic>
      <p:pic>
        <p:nvPicPr>
          <p:cNvPr id="51" name="图片 50" descr="图标&#10;&#10;中度可信度描述已自动生成">
            <a:extLst>
              <a:ext uri="{FF2B5EF4-FFF2-40B4-BE49-F238E27FC236}">
                <a16:creationId xmlns:a16="http://schemas.microsoft.com/office/drawing/2014/main" id="{E3F12E81-6FF8-754A-6914-9960C6D1F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38" y="947440"/>
            <a:ext cx="388800" cy="388800"/>
          </a:xfrm>
          <a:prstGeom prst="rect">
            <a:avLst/>
          </a:prstGeom>
        </p:spPr>
      </p:pic>
      <p:pic>
        <p:nvPicPr>
          <p:cNvPr id="75" name="图片 74" descr="形状&#10;&#10;低可信度描述已自动生成">
            <a:extLst>
              <a:ext uri="{FF2B5EF4-FFF2-40B4-BE49-F238E27FC236}">
                <a16:creationId xmlns:a16="http://schemas.microsoft.com/office/drawing/2014/main" id="{ACD0A5E1-7FC8-F586-2E8E-9216B46A8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463" y="944940"/>
            <a:ext cx="360000" cy="360000"/>
          </a:xfrm>
          <a:prstGeom prst="rect">
            <a:avLst/>
          </a:prstGeom>
        </p:spPr>
      </p:pic>
      <p:pic>
        <p:nvPicPr>
          <p:cNvPr id="107" name="图片 106" descr="绿色的标志&#10;&#10;描述已自动生成">
            <a:extLst>
              <a:ext uri="{FF2B5EF4-FFF2-40B4-BE49-F238E27FC236}">
                <a16:creationId xmlns:a16="http://schemas.microsoft.com/office/drawing/2014/main" id="{F64D683C-776E-CB08-56CC-226C41807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098" y="2019262"/>
            <a:ext cx="309155" cy="309155"/>
          </a:xfrm>
          <a:prstGeom prst="rect">
            <a:avLst/>
          </a:prstGeom>
        </p:spPr>
      </p:pic>
      <p:pic>
        <p:nvPicPr>
          <p:cNvPr id="114" name="图片 113" descr="图标&#10;&#10;描述已自动生成">
            <a:extLst>
              <a:ext uri="{FF2B5EF4-FFF2-40B4-BE49-F238E27FC236}">
                <a16:creationId xmlns:a16="http://schemas.microsoft.com/office/drawing/2014/main" id="{272A3D36-72D3-7778-624D-229DA65310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2787" y="3673673"/>
            <a:ext cx="363481" cy="363481"/>
          </a:xfrm>
          <a:prstGeom prst="rect">
            <a:avLst/>
          </a:prstGeom>
        </p:spPr>
      </p:pic>
      <p:pic>
        <p:nvPicPr>
          <p:cNvPr id="118" name="图片 117" descr="图标&#10;&#10;描述已自动生成">
            <a:extLst>
              <a:ext uri="{FF2B5EF4-FFF2-40B4-BE49-F238E27FC236}">
                <a16:creationId xmlns:a16="http://schemas.microsoft.com/office/drawing/2014/main" id="{D95FFBC4-CCA7-32EE-EA26-E15BBE0F45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8577" y="2016617"/>
            <a:ext cx="299224" cy="299224"/>
          </a:xfrm>
          <a:prstGeom prst="rect">
            <a:avLst/>
          </a:prstGeom>
        </p:spPr>
      </p:pic>
      <p:pic>
        <p:nvPicPr>
          <p:cNvPr id="120" name="图片 119" descr="徽标&#10;&#10;描述已自动生成">
            <a:extLst>
              <a:ext uri="{FF2B5EF4-FFF2-40B4-BE49-F238E27FC236}">
                <a16:creationId xmlns:a16="http://schemas.microsoft.com/office/drawing/2014/main" id="{ECC517C8-6E9C-9093-13C7-C5404B731F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6419" y="1976847"/>
            <a:ext cx="382894" cy="382894"/>
          </a:xfrm>
          <a:prstGeom prst="rect">
            <a:avLst/>
          </a:prstGeom>
        </p:spPr>
      </p:pic>
      <p:pic>
        <p:nvPicPr>
          <p:cNvPr id="122" name="图片 121" descr="图标&#10;&#10;描述已自动生成">
            <a:extLst>
              <a:ext uri="{FF2B5EF4-FFF2-40B4-BE49-F238E27FC236}">
                <a16:creationId xmlns:a16="http://schemas.microsoft.com/office/drawing/2014/main" id="{63BDC4CC-B627-D462-7F03-9F11222EAE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6830" y="1924304"/>
            <a:ext cx="409725" cy="4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01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161</Words>
  <Application>Microsoft Macintosh PowerPoint</Application>
  <PresentationFormat>自定义</PresentationFormat>
  <Paragraphs>63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Aptos</vt:lpstr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JieSun</cp:lastModifiedBy>
  <cp:revision>12</cp:revision>
  <dcterms:created xsi:type="dcterms:W3CDTF">2013-01-27T09:14:16Z</dcterms:created>
  <dcterms:modified xsi:type="dcterms:W3CDTF">2026-05-28T02:41:37Z</dcterms:modified>
  <cp:category/>
</cp:coreProperties>
</file>